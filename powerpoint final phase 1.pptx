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0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5445E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5445E"/>
                </a:solidFill>
                <a:latin typeface="Arial"/>
              </a:rPr>
              <a:t>Revenue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F4-42F7-A76B-E4DBBD1956DC}"/>
              </c:ext>
            </c:extLst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F4-42F7-A76B-E4DBBD1956D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F4-42F7-A76B-E4DBBD1956D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F4-42F7-A76B-E4DBBD1956D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Purchase</c:v>
                </c:pt>
                <c:pt idx="1">
                  <c:v>Purchase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10422</c:v>
                </c:pt>
                <c:pt idx="1">
                  <c:v>1908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F4-42F7-A76B-E4DBBD1956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5445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5445E"/>
                </a:solidFill>
                <a:latin typeface="Arial"/>
              </a:rPr>
              <a:t>Purchase Rate by Month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544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Feb</c:v>
                </c:pt>
                <c:pt idx="1">
                  <c:v>Mar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1.6</c:v>
                </c:pt>
                <c:pt idx="1">
                  <c:v>10.1</c:v>
                </c:pt>
                <c:pt idx="2">
                  <c:v>10.9</c:v>
                </c:pt>
                <c:pt idx="3">
                  <c:v>10.1</c:v>
                </c:pt>
                <c:pt idx="4">
                  <c:v>15.3</c:v>
                </c:pt>
                <c:pt idx="5">
                  <c:v>17.600000000000001</c:v>
                </c:pt>
                <c:pt idx="6">
                  <c:v>19.2</c:v>
                </c:pt>
                <c:pt idx="7">
                  <c:v>20.9</c:v>
                </c:pt>
                <c:pt idx="8">
                  <c:v>25.4</c:v>
                </c:pt>
                <c:pt idx="9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F4-4720-843C-48272A1EB1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5445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5445E"/>
                </a:solidFill>
                <a:latin typeface="Arial"/>
              </a:rPr>
              <a:t>Absolute Pearson correlation with Revenue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Revenue (|r|)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544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Admin_Duration</c:v>
                </c:pt>
                <c:pt idx="1">
                  <c:v>Informational</c:v>
                </c:pt>
                <c:pt idx="2">
                  <c:v>Administrative</c:v>
                </c:pt>
                <c:pt idx="3">
                  <c:v>BounceRates</c:v>
                </c:pt>
                <c:pt idx="4">
                  <c:v>ProductRelated_Duration</c:v>
                </c:pt>
                <c:pt idx="5">
                  <c:v>ProductRelated</c:v>
                </c:pt>
                <c:pt idx="6">
                  <c:v>ExitRates</c:v>
                </c:pt>
                <c:pt idx="7">
                  <c:v>PageValues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9.4E-2</c:v>
                </c:pt>
                <c:pt idx="1">
                  <c:v>9.5000000000000001E-2</c:v>
                </c:pt>
                <c:pt idx="2">
                  <c:v>0.13900000000000001</c:v>
                </c:pt>
                <c:pt idx="3">
                  <c:v>0.151</c:v>
                </c:pt>
                <c:pt idx="4">
                  <c:v>0.152</c:v>
                </c:pt>
                <c:pt idx="5">
                  <c:v>0.159</c:v>
                </c:pt>
                <c:pt idx="6">
                  <c:v>0.20699999999999999</c:v>
                </c:pt>
                <c:pt idx="7">
                  <c:v>0.49299999999999999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2D-4B63-B24D-9BBC0C885D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5445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5445E"/>
                </a:solidFill>
                <a:latin typeface="Arial"/>
              </a:rPr>
              <a:t>Training data before and after SMOTE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Purchase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SMOTE</c:v>
                </c:pt>
                <c:pt idx="1">
                  <c:v>After SMOTE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8238</c:v>
                </c:pt>
                <c:pt idx="1">
                  <c:v>8238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6-4DA7-99B3-C2DB772200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Purchase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SMOTE</c:v>
                </c:pt>
                <c:pt idx="1">
                  <c:v>After SMOTE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1526</c:v>
                </c:pt>
                <c:pt idx="1">
                  <c:v>8238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76-4DA7-99B3-C2DB772200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080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0"/>
            <a:ext cx="2834640" cy="6858000"/>
          </a:xfrm>
          <a:prstGeom prst="rect">
            <a:avLst/>
          </a:prstGeom>
          <a:solidFill>
            <a:srgbClr val="042A3C"/>
          </a:solidFill>
          <a:ln w="12700">
            <a:solidFill>
              <a:srgbClr val="04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1097280"/>
            <a:ext cx="109728" cy="4663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PROJECT  ·  PHASE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Intention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 website visitor buy something? Let's find out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663440"/>
            <a:ext cx="22860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EDA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Exploratory Data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Cleaning &amp; Encoding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0" y="4754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ENG.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New features · Binning · Selection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UNYT  ·  Group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 visit to the website end in a purchase?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4480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what a visitor did on the website and guess if they will buy.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425196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51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→  True (purchase)  /  False (no purchase)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5349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can intervene in real time — personalized offers, cart recovery, targeted recommendations — turning browsers into buyers.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1645920"/>
            <a:ext cx="5120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1645920"/>
            <a:ext cx="91440" cy="1371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Classes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 out of 100 visits end in a sale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200400"/>
            <a:ext cx="5120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200400"/>
            <a:ext cx="91440" cy="1371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Distributions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time columns are full of zeros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4754880"/>
            <a:ext cx="5120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4754880"/>
            <a:ext cx="91440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5166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Feature Types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number columns + 8 text columns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Dataset — UCI Machine Learning Repository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 of visits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645920"/>
            <a:ext cx="9144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8288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61188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numeric + 8 categorical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645920"/>
            <a:ext cx="9144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8288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49224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through Dec 2016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164592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0" y="1645920"/>
            <a:ext cx="9144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18288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937260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7260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uneven target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11064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931920"/>
            <a:ext cx="91440" cy="2286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4526280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Counts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· Informational · ProductRelated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526280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Durations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on each page type (seconds)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5394960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4300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BounceRates · ExitRates · PageValues · SpecialDay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5394960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2940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· VisitorType · Weekend · OS · Browser · Region · TrafficType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EDA revealed — and a problem to address later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5486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645920"/>
            <a:ext cx="51206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92240" y="1645920"/>
            <a:ext cx="91440" cy="4572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: 1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676656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split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0" y="3657600"/>
            <a:ext cx="137160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3840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model that always predicts "No Purchase" would score 84.5% accuracy — yet catch zero actual buyers.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6656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66560" y="5212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SMOTE to balance the training data, and score the model on F1 and recall, not accuracy.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Distributions &amp; Skewness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number columns are very lopsided and full of zeros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4572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FINDINGS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Lopsided Columns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2697480"/>
            <a:ext cx="5303520" cy="438912"/>
          </a:xfrm>
          <a:prstGeom prst="rect">
            <a:avLst/>
          </a:prstGeom>
          <a:solidFill>
            <a:srgbClr val="FFFAF0"/>
          </a:solidFill>
          <a:ln w="6350">
            <a:solidFill>
              <a:srgbClr val="F0E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97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Administrative_Duration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6974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5.61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227832"/>
            <a:ext cx="5303520" cy="438912"/>
          </a:xfrm>
          <a:prstGeom prst="rect">
            <a:avLst/>
          </a:prstGeom>
          <a:solidFill>
            <a:srgbClr val="FFFAF0"/>
          </a:solidFill>
          <a:ln w="6350">
            <a:solidFill>
              <a:srgbClr val="F0E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2278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Informational_Duration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22783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7.58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758184"/>
            <a:ext cx="5303520" cy="438912"/>
          </a:xfrm>
          <a:prstGeom prst="rect">
            <a:avLst/>
          </a:prstGeom>
          <a:solidFill>
            <a:srgbClr val="FFFAF0"/>
          </a:solidFill>
          <a:ln w="6350">
            <a:solidFill>
              <a:srgbClr val="F0E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5818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ProductRelated_Duration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75818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7.26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288536"/>
            <a:ext cx="5303520" cy="438912"/>
          </a:xfrm>
          <a:prstGeom prst="rect">
            <a:avLst/>
          </a:prstGeom>
          <a:solidFill>
            <a:srgbClr val="FFFAF0"/>
          </a:solidFill>
          <a:ln w="6350">
            <a:solidFill>
              <a:srgbClr val="F0E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28853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42885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6.36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818888"/>
            <a:ext cx="5303520" cy="438912"/>
          </a:xfrm>
          <a:prstGeom prst="rect">
            <a:avLst/>
          </a:prstGeom>
          <a:solidFill>
            <a:srgbClr val="FFFAF0"/>
          </a:solidFill>
          <a:ln w="6350">
            <a:solidFill>
              <a:srgbClr val="F0E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8188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BounceRates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481888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2.95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5349240"/>
            <a:ext cx="5303520" cy="438912"/>
          </a:xfrm>
          <a:prstGeom prst="rect">
            <a:avLst/>
          </a:prstGeom>
          <a:solidFill>
            <a:srgbClr val="FFFAF0"/>
          </a:solidFill>
          <a:ln w="6350">
            <a:solidFill>
              <a:srgbClr val="F0E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349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ExitRates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53492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2.15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1645920"/>
            <a:ext cx="51206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1645920"/>
            <a:ext cx="91440" cy="4572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ZERO-INFLATION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zeros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66560" y="2606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never visit admin or info pages at all — those zeros carry real meaning and cannot simply be imputed.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6696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55.4%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665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96696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6656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Admin_Duration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966960" y="4572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6656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Info_Duration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966960" y="5074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79.3%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766560" y="5669280"/>
            <a:ext cx="4663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5760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Handled via log1p transformation &amp; binary activity flags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Seasonality Pattern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climbs from February to November — then drops sharply in December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73152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645920"/>
            <a:ext cx="3657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38160" y="1645920"/>
            <a:ext cx="914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6676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36676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— Black Friday effect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3246120"/>
            <a:ext cx="3657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38160" y="3246120"/>
            <a:ext cx="91440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6676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36676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36676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— slow season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38160" y="4846320"/>
            <a:ext cx="3657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38160" y="4846320"/>
            <a:ext cx="9144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66760" y="5257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is a strong predictor — motivates a Season feature in Part 3.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Who Buys?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change a lot by visitor type, weekend, and special days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7033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91440" cy="4206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VISITORS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13.9% returning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10972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visitors convert nearly 2× as often — counterintuitive, but consistent.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37033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737360"/>
            <a:ext cx="91440" cy="4206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70916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14.9% weekday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4023360"/>
            <a:ext cx="10972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416052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weekend lift — not as strong as expected, but still a signal.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1737360"/>
            <a:ext cx="37033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737360"/>
            <a:ext cx="91440" cy="42062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0" y="2286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859536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on its own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95360" y="4023360"/>
            <a:ext cx="10972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416052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SpecialDay alone is a poor predictor — we convert it to a binary flag in Part 3.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6126480"/>
            <a:ext cx="91440" cy="36576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shape the new features we build in Part 3.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Correlations with Revenue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 dominates — nothing else comes close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71323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645920"/>
            <a:ext cx="38404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0" y="1645920"/>
            <a:ext cx="91440" cy="4572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838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83880" y="2103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81838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 ↔ Revenue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83880" y="3657600"/>
            <a:ext cx="1371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38404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Analytics PageValues metric is already a partial "answer key" — it measures the average value of a page for users who completed a purchase.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83880" y="5303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it and also build new features from it.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transformation steps — detailed in the next three slides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761488"/>
            <a:ext cx="89611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86000"/>
            <a:ext cx="1005840" cy="1005840"/>
          </a:xfrm>
          <a:prstGeom prst="ellipse">
            <a:avLst/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3172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rows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286000"/>
            <a:ext cx="1005840" cy="1005840"/>
          </a:xfrm>
          <a:prstGeom prst="ellipse">
            <a:avLst/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33172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6888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2286000"/>
            <a:ext cx="1005840" cy="1005840"/>
          </a:xfrm>
          <a:prstGeom prst="ellipse">
            <a:avLst/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233172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Counts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916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columns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2286000"/>
            <a:ext cx="1005840" cy="1005840"/>
          </a:xfrm>
          <a:prstGeom prst="ellipse">
            <a:avLst/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233172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46920" y="2286000"/>
            <a:ext cx="1005840" cy="1005840"/>
          </a:xfrm>
          <a:prstGeom prst="ellipse">
            <a:avLst/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0" y="233172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18972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Rare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8972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columns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5074920"/>
            <a:ext cx="91440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→  OUTPUT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5486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12,330 raw rows  ·  18 columns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2960" y="5870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from UCI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492240" y="5486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12,205 clean rows  ·  ready for Part 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2240" y="5870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encoded, outliers fixed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Cleaning &amp; Outliers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3 — removing duplicates and capping extreme values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4572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 ·  DUPLICATES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exact duplicates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12,205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65760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4754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51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duplicates dropped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row-level duplicates are likely logging artifacts — the same session recorded twice. Dropping them prevents the model from overweighting identical examples.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645920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645920"/>
            <a:ext cx="91440" cy="4572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 ·  WINSORIZATION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off at the top 1%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0" y="2606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page counts would throw off the models.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520440"/>
            <a:ext cx="5029200" cy="658368"/>
          </a:xfrm>
          <a:prstGeom prst="rect">
            <a:avLst/>
          </a:prstGeom>
          <a:solidFill>
            <a:srgbClr val="FFFAF0"/>
          </a:solidFill>
          <a:ln w="6350">
            <a:solidFill>
              <a:srgbClr val="F0E6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520440"/>
            <a:ext cx="73152" cy="6583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5204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0" y="35204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 14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0" y="35204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capped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297680"/>
            <a:ext cx="5029200" cy="658368"/>
          </a:xfrm>
          <a:prstGeom prst="rect">
            <a:avLst/>
          </a:prstGeom>
          <a:solidFill>
            <a:srgbClr val="FFFAF0"/>
          </a:solidFill>
          <a:ln w="6350">
            <a:solidFill>
              <a:srgbClr val="F0E6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297680"/>
            <a:ext cx="73152" cy="6583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2976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42976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 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0" y="42976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capped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5074920"/>
            <a:ext cx="5029200" cy="658368"/>
          </a:xfrm>
          <a:prstGeom prst="rect">
            <a:avLst/>
          </a:prstGeom>
          <a:solidFill>
            <a:srgbClr val="FFFAF0"/>
          </a:solidFill>
          <a:ln w="6350">
            <a:solidFill>
              <a:srgbClr val="F0E6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5074920"/>
            <a:ext cx="73152" cy="6583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50749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ProductRelated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61120" y="50749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 221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41280" y="50749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capped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Skewness Handling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log1p transformation on the four most skewed columns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1148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4572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 ·  LOG TRANSFORM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log1p?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Lopsided data confuses models like SVM and logistic regression. Log1p fixes the shape.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= log(1 + x). It handles zeros and squishes big values down.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67665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45920"/>
            <a:ext cx="91440" cy="4572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 ·  BEFORE  →  AFTER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1832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07040" y="21488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2487168"/>
            <a:ext cx="63550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624328"/>
            <a:ext cx="6355080" cy="68580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6243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Administrative_Duration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26243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0" y="26243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607040" y="262432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20640" y="3401568"/>
            <a:ext cx="6355080" cy="68580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40156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Informational_Duration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340156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18320" y="340156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07040" y="340156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20640" y="4178808"/>
            <a:ext cx="6355080" cy="68580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41788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ProductRelated_Duration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417880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18320" y="417880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607040" y="417880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20640" y="4956048"/>
            <a:ext cx="6355080" cy="68580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49560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46720" y="495604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418320" y="495604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607040" y="495604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Encoding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&amp; 5 — turning categorical variables into model-ready numbers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91440" cy="2148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 →  Integer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48463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14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1   ·   False → 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swap, no info lost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349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691640"/>
            <a:ext cx="91440" cy="2148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780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VisitorType  →  IsReturning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7960" y="2514600"/>
            <a:ext cx="48463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514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Returning_Visitor → 1   ·   New / Other → 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108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3 categories into 1 binary flag — 'Other' was too rare to justify a separate level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5349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023360"/>
            <a:ext cx="91440" cy="2148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4206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 →  Ordinal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960" y="4846320"/>
            <a:ext cx="48463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846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→ 2   ·   Mar → 3   ·   ...   ·   Dec → 12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4406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month order so trends across the year stay clear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023360"/>
            <a:ext cx="5349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4023360"/>
            <a:ext cx="91440" cy="21488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4251960"/>
            <a:ext cx="502920" cy="50292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78040" y="4206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Rare Categories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37960" y="4846320"/>
            <a:ext cx="48463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4846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levels (&lt; 1%)  →  -1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37960" y="54406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8→5   ·   Browser 13→8   ·   TrafficType 20→12    (prevents overfitting to tiny subgroups)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42A3C"/>
          </a:solidFill>
          <a:ln w="12700">
            <a:solidFill>
              <a:srgbClr val="042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097280"/>
            <a:ext cx="109728" cy="4663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731520" y="4251960"/>
            <a:ext cx="22860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34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raw data becomes useful info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4672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2880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4672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5074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New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new features grouped by what they measure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033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91440" cy="2057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947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Totals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TotalPages  ·  TotalDuration  ·  AvgTimePerPage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691640"/>
            <a:ext cx="37033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691640"/>
            <a:ext cx="91440" cy="2057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96596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1947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Focus Ratios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09160" y="251460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606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ProductPageRatio  ·  ProductDurationRatio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1691640"/>
            <a:ext cx="37033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691640"/>
            <a:ext cx="91440" cy="2057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96596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98280" y="1947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&amp; Exit Behavior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95360" y="251460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606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BounceExitDiff  ·  BounceExitRatio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37033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977640"/>
            <a:ext cx="91440" cy="2057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251960"/>
            <a:ext cx="365760" cy="36576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4233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Flags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960" y="480060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892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HasAdminActivity  ·  HasInfoActivity  ·  HasPageValue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3977640"/>
            <a:ext cx="37033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34840" y="3977640"/>
            <a:ext cx="91440" cy="20574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4251960"/>
            <a:ext cx="365760" cy="3657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4233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Value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09160" y="480060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4892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HighIntentSession  ·  SessionValueScore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21040" y="3977640"/>
            <a:ext cx="37033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321040" y="3977640"/>
            <a:ext cx="91440" cy="205740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0" y="4251960"/>
            <a:ext cx="365760" cy="365760"/>
          </a:xfrm>
          <a:prstGeom prst="ellipse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098280" y="4233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Interactions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95360" y="480060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4892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IsSpecialDay  ·  Season  ·  WeekendReturning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Binning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lopsided values into simple groups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1148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4572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BIN?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Handles extreme values well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Helps linear models find curved patterns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Catches cutoff effects that raw numbers miss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Works well with PageValues full of zeros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645920"/>
            <a:ext cx="66751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645920"/>
            <a:ext cx="91440" cy="4572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BINNED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2240280"/>
            <a:ext cx="612648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240280"/>
            <a:ext cx="73152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BounceRate_Bin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240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·  Medium  ·  High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3017520"/>
            <a:ext cx="612648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3017520"/>
            <a:ext cx="73152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ExitRate_Bin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3017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·  Medium  ·  High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3794760"/>
            <a:ext cx="612648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3794760"/>
            <a:ext cx="73152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PageValue_Bin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3794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 ·  Low  ·  High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4572000"/>
            <a:ext cx="612648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4572000"/>
            <a:ext cx="73152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4572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Duration_Bin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572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Q2  ·  Q3  ·  Q4 (quartiles)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5349240"/>
            <a:ext cx="612648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5349240"/>
            <a:ext cx="73152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5349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ProductRelated_Bin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53492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Q2  ·  Q3  ·  Q4 (quartiles)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Two-Stage Feature Selection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similar features first, then rank the rest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321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4572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874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features are 90% the same, keep the one more tied to sales.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657600"/>
            <a:ext cx="5029200" cy="109728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dropped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389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BounceRates, ProductRelated, HasPageValue, SessionValueScore, SpecialDay, PageValue_Bin, and 2 log versions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features  →  33 features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53492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645920"/>
            <a:ext cx="91440" cy="4572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82880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1874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Ranking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features two ways and keep the top 15 from each.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3657600"/>
            <a:ext cx="4846320" cy="5029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 →  finds curved patterns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4251960"/>
            <a:ext cx="4846320" cy="502920"/>
          </a:xfrm>
          <a:prstGeom prst="rect">
            <a:avLst/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  →  finds combined effects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features  →  20 selected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·  Final Selected Feature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 ready for Phase 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4572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kept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1371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41 total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 original + 23 new)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645920"/>
            <a:ext cx="71780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645920"/>
            <a:ext cx="91440" cy="4572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SELECTED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2432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Administrative_Duration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0837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ExitRates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39242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826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77647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416052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PageValues_log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454456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ProductRelated_Duration_log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492861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818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TotalDuration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531266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5202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TotalPages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569671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55869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TrafficType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21040" y="224028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130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AvgTimePerPage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21040" y="262432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BounceExitDiff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21040" y="300837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2898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BounceExitRatio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321040" y="339242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32826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ProductPageRatio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21040" y="37764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36667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ProductDurationRatio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321040" y="416052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4050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HasAdminActivity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21040" y="454456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HighIntentSession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21040" y="492861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4818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Duration_Bin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21040" y="531266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0" y="52029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ExitRate_Bin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321040" y="569671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0" y="5586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ProductRelated_Bin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54880" y="5989320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5897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321040" y="5989320"/>
            <a:ext cx="137160" cy="1371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03920" y="5897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Pipeline  ·  Split, Scale, SMOTE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ready for Phase 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703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2926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9,764 train  ·  2,441 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sales ratio the same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645920"/>
            <a:ext cx="3703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645920"/>
            <a:ext cx="91440" cy="2926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2560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cols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70916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columns scaled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886200"/>
            <a:ext cx="9144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training only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21040" y="1645920"/>
            <a:ext cx="3703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1645920"/>
            <a:ext cx="91440" cy="2926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9536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95360" y="2560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16,476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59536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training rows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95360" y="3886200"/>
            <a:ext cx="9144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training data</a:t>
            </a:r>
            <a:endParaRPr lang="en-US" sz="11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548640" y="4754880"/>
          <a:ext cx="11064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27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COMPLETE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611880" cy="3291840"/>
          </a:xfrm>
          <a:prstGeom prst="rect">
            <a:avLst/>
          </a:prstGeom>
          <a:solidFill>
            <a:srgbClr val="042A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03120"/>
            <a:ext cx="36118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2788920"/>
            <a:ext cx="10972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260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Found 5.5 to 1 uneven classes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Found lopsided data and many zeros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Found seasonality (November peaks at 25.4%)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PageValues wins correlations (0.49)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2103120"/>
            <a:ext cx="3611880" cy="3291840"/>
          </a:xfrm>
          <a:prstGeom prst="rect">
            <a:avLst/>
          </a:prstGeom>
          <a:solidFill>
            <a:srgbClr val="042A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103120"/>
            <a:ext cx="36118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2788920"/>
            <a:ext cx="10972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9260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Dropped 125 duplicate rows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log1p on 4 lopsided columns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Cut off top 1% extreme values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Encoded text, grouped rare cases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0" y="2103120"/>
            <a:ext cx="3611880" cy="3291840"/>
          </a:xfrm>
          <a:prstGeom prst="rect">
            <a:avLst/>
          </a:prstGeom>
          <a:solidFill>
            <a:srgbClr val="042A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2103120"/>
            <a:ext cx="36118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32520" y="2788920"/>
            <a:ext cx="10972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29260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15 new features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5 group features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Two-step selection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BD5E1"/>
                </a:solidFill>
              </a:rPr>
              <a:t>20 final features for Phase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623560"/>
            <a:ext cx="106984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PHASE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·  SVM  ·  XGBoost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Purchasing Intention  ·  Phase 1: EDA · Preprocessing · Feature Engineering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1749</Words>
  <Application>Microsoft Office PowerPoint</Application>
  <PresentationFormat>Widescreen</PresentationFormat>
  <Paragraphs>408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Shoppers Purchasing Intention — Phase 1</dc:title>
  <dc:subject>PptxGenJS Presentation</dc:subject>
  <dc:creator>PptxGenJS</dc:creator>
  <cp:lastModifiedBy>Iris Hoxha</cp:lastModifiedBy>
  <cp:revision>1</cp:revision>
  <dcterms:created xsi:type="dcterms:W3CDTF">2026-04-10T18:32:59Z</dcterms:created>
  <dcterms:modified xsi:type="dcterms:W3CDTF">2026-04-10T18:37:33Z</dcterms:modified>
</cp:coreProperties>
</file>