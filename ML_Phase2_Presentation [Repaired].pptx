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324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86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534"/>
          </a:solidFill>
          <a:ln w="12700">
            <a:solidFill>
              <a:srgbClr val="152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Model Implementation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SVM (RBF)  ·  Neural Network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 |  SMOTE Balancing  |  5-Fold Stratified CV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3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Problem Definition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632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— UCI ML Repository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286000" cy="10058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005840"/>
            <a:ext cx="2286000" cy="10058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078992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71800" y="1609344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2286000" cy="10058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078992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1609344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3840480" cy="246888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64008" cy="2468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633472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predict whether a visitor completes a purchase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Revenue (True / False) → encoded as 1 / 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 imbalance: ~84.5% non-buyers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with SMOTE on training set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194560"/>
            <a:ext cx="4114800" cy="246888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194560"/>
            <a:ext cx="64008" cy="2468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2633472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behaviour: page counts, durations, bounce/exit rates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value &amp; proximity to special days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type, weekend flag, OS/browser/region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log-transformed durations, SessionValueScore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preprocessing feeds directly into Phase 2 models — no leakage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46888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527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46888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612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1527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828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Log-transforms, winsorizing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SessionValueScore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46888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5156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1612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9632" y="1527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1828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categoricals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46888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9748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807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" y="31729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474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minority class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697480"/>
            <a:ext cx="2468880" cy="1417320"/>
          </a:xfrm>
          <a:prstGeom prst="rect">
            <a:avLst/>
          </a:prstGeom>
          <a:solidFill>
            <a:srgbClr val="1E3347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697480"/>
            <a:ext cx="64008" cy="14173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807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10712" y="31729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0712" y="3474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5-fold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697480"/>
            <a:ext cx="2468880" cy="1417320"/>
          </a:xfrm>
          <a:prstGeom prst="rect">
            <a:avLst/>
          </a:prstGeom>
          <a:solidFill>
            <a:srgbClr val="1E3347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697480"/>
            <a:ext cx="64008" cy="14173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807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99632" y="31729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9632" y="3474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PR-AUC, Confusion Matrix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34840" y="2468880"/>
            <a:ext cx="0" cy="228600"/>
          </a:xfrm>
          <a:prstGeom prst="line">
            <a:avLst/>
          </a:prstGeom>
          <a:noFill/>
          <a:ln w="19050">
            <a:solidFill>
              <a:srgbClr val="0A7E8C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19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Logistic Regression (Baseline)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5772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559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· L1/L2 regularisation · GridSearchCV 5-fold · Trained on SMOTE-balanced set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176528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11308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C ∈ {0.01, 0.1, 1, 10}  |  penalty: L1, L2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liblinear  |  Scoring: F1  |  max_iter: 1000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C = 1.0, penalty = L2, class_weight = balanced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7258" y="2276856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" y="2350008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7258" y="2770632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36522" y="2276856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36522" y="2350008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36522" y="2770632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5786" y="2276856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5786" y="2350008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05786" y="2770632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75050" y="2276856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75050" y="2350008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75050" y="2770632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114800" cy="274320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64008" cy="2359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38988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PageValues-derived features have largest positive coefficients — high page value strongly predicts purchase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ExitRates and BounceRates push predictions away from purchase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 limits ability to capture non-linear feature interactions (e.g. PageValues × ExitRates)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shows high bias — representational limit, not data quantity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interpretable: coefficient plot explains every prediction direction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970" y="3218688"/>
            <a:ext cx="384048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" y="3236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Strong baseline. Interpretable. Limited by linearity.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792" y="35890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Coefficients (approx.)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62455" y="3813048"/>
            <a:ext cx="2024482" cy="1737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135" y="381304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23513" y="38130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962455" y="4032504"/>
            <a:ext cx="1604772" cy="1737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5135" y="403250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SessionValueScore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03803" y="40325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62455" y="4251960"/>
            <a:ext cx="1012241" cy="1737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135" y="425196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ProductRelated_Dur_log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11272" y="4251960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62455" y="4471416"/>
            <a:ext cx="814730" cy="1737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5135" y="447141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Month_Nov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13761" y="447141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4571" y="4690872"/>
            <a:ext cx="1357884" cy="1737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135" y="46908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99031" y="469087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7393" y="4910328"/>
            <a:ext cx="1185062" cy="1737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5135" y="491032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BounceRates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999031" y="491032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962455" y="3767328"/>
            <a:ext cx="0" cy="1362456"/>
          </a:xfrm>
          <a:prstGeom prst="line">
            <a:avLst/>
          </a:prstGeom>
          <a:noFill/>
          <a:ln w="10160">
            <a:solidFill>
              <a:srgbClr val="8FA3B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39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Support Vector Machine (RBF Kernel)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2272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7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boundary · RBF kernel · </a:t>
            </a:r>
            <a:r>
              <a:rPr lang="en-US" sz="1150" dirty="0" err="1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C ∈ {0.1, 1, 10}  |  gamma ∈ {scale, 0.01, 0.1}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RBF  |  probability=True  |  Scoring: F1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from CV — high-margin separation in kernel space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26464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26464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26464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95728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395728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64992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64992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64992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114800" cy="2770632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64008" cy="2359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38988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maps features into higher-dimensional space — captures non-linear interactions LR cannot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F1 and ROC-AUC vs baseline, confirming non-linearity in the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+ SMOTE both applied — robust to imbalance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train than LR (quadratic complexity); not scalable to very large datasets without approximations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nature: no direct feature importance, unlike LR coefficients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384048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Captures non-linearity. Better F1 than LR. Slower training.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Complexity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704088" cy="2011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4133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(LR)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407408"/>
            <a:ext cx="1984248" cy="2011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4407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(SVM)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681728"/>
            <a:ext cx="2720340" cy="2011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2132" y="4681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7350" y="4855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                High →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7350" y="497713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Complexity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681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Neural Network (Feedforward)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44068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5623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Keras/TensorFlow · BatchNorm + Dropout · Early stopping · Manual architecture grid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882396"/>
            <a:ext cx="3840480" cy="1568196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09828"/>
            <a:ext cx="64008" cy="1393546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" y="85862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16" y="103693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Input → Dense(128) → BN → Dropout(0.3) → Dense(64) → BN → Dropout(0.3) → Dense(1, sigmoid)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(lr=1e-3)  |  Loss: Binary Crossentropy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val_loss  |  Manual grid over depth &amp; dropout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26464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26464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26464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95728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395728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64992" y="2542032"/>
            <a:ext cx="868680" cy="8229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64992" y="2615184"/>
            <a:ext cx="868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64992" y="3035808"/>
            <a:ext cx="8686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114800" cy="255016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64008" cy="235915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38988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decision boundary of the three — learns complex feature interactions automatically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stabilises training; Dropout prevents overfitting on tabular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halts training when val_loss stops improving — avoids manual epoch selection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show train/val AUC converging, indicating good generalisation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highest performance but least interpretable — no direct feature attribution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3840480" cy="3200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Best performance. Most flexible. Least interpretable.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502920" cy="685800"/>
          </a:xfrm>
          <a:prstGeom prst="rect">
            <a:avLst/>
          </a:prstGeom>
          <a:solidFill>
            <a:srgbClr val="1E3347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60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60120" y="4503420"/>
            <a:ext cx="109728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9848" y="4160520"/>
            <a:ext cx="685800" cy="685800"/>
          </a:xfrm>
          <a:prstGeom prst="rect">
            <a:avLst/>
          </a:prstGeom>
          <a:solidFill>
            <a:srgbClr val="F4845F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755648" y="4503420"/>
            <a:ext cx="109728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5376" y="4160520"/>
            <a:ext cx="594360" cy="68580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4160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BN+Drop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59736" y="4503420"/>
            <a:ext cx="109728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9464" y="4160520"/>
            <a:ext cx="594360" cy="685800"/>
          </a:xfrm>
          <a:prstGeom prst="rect">
            <a:avLst/>
          </a:prstGeom>
          <a:solidFill>
            <a:srgbClr val="F4845F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9464" y="4160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63824" y="4503420"/>
            <a:ext cx="109728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73552" y="4160520"/>
            <a:ext cx="594360" cy="68580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4160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BN+Drop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67912" y="4503420"/>
            <a:ext cx="109728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77640" y="4160520"/>
            <a:ext cx="457200" cy="685800"/>
          </a:xfrm>
          <a:prstGeom prst="rect">
            <a:avLst/>
          </a:prstGeom>
          <a:solidFill>
            <a:srgbClr val="0A7E8C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77640" y="4160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34840" y="4503420"/>
            <a:ext cx="109728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44568" y="4160520"/>
            <a:ext cx="457200" cy="685800"/>
          </a:xfrm>
          <a:prstGeom prst="rect">
            <a:avLst/>
          </a:prstGeom>
          <a:solidFill>
            <a:srgbClr val="0A7E8C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44568" y="4160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826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on the same held-out test set (20% stratified split, original class distribution)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10312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0058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10058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9144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05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005840"/>
            <a:ext cx="9144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005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10058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005840"/>
            <a:ext cx="10058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389888"/>
            <a:ext cx="210312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1389888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389888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1389888"/>
            <a:ext cx="91440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38988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1389888"/>
            <a:ext cx="91440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138988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389888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1389888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1389888"/>
            <a:ext cx="64008" cy="4389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1865376"/>
            <a:ext cx="210312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18653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1865376"/>
            <a:ext cx="100584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18653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1865376"/>
            <a:ext cx="100584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18653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80560" y="1865376"/>
            <a:ext cx="91440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18653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4960" y="1865376"/>
            <a:ext cx="91440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18653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1865376"/>
            <a:ext cx="100584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8653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0" y="1865376"/>
            <a:ext cx="100584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18653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1865376"/>
            <a:ext cx="64008" cy="43891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2340864"/>
            <a:ext cx="2103120" cy="438912"/>
          </a:xfrm>
          <a:prstGeom prst="rect">
            <a:avLst/>
          </a:prstGeom>
          <a:solidFill>
            <a:srgbClr val="1E3347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234086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468880" y="2340864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0" y="23408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74720" y="2340864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23408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80560" y="2340864"/>
            <a:ext cx="91440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23408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394960" y="2340864"/>
            <a:ext cx="91440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94960" y="23408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09360" y="2340864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23408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0.942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15200" y="2340864"/>
            <a:ext cx="1005840" cy="438912"/>
          </a:xfrm>
          <a:prstGeom prst="rect">
            <a:avLst/>
          </a:prstGeom>
          <a:solidFill>
            <a:srgbClr val="152534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23408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65760" y="2340864"/>
            <a:ext cx="64008" cy="43891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5760" y="3063240"/>
            <a:ext cx="2788920" cy="12344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65760" y="3063240"/>
            <a:ext cx="64008" cy="12344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baseline. Fast, interpretable. F1 limited by linear boundary.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37560" y="3063240"/>
            <a:ext cx="2788920" cy="12344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337560" y="3063240"/>
            <a:ext cx="64008" cy="1234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20440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52044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performance and speed. Non-linear gains confirmed.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309360" y="3063240"/>
            <a:ext cx="2788920" cy="12344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309360" y="3063240"/>
            <a:ext cx="64008" cy="12344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92240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9224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on all metrics. Flexible boundary — but opaque.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Green = best value per metric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237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&amp; Confusion Matrices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07035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measures ranking quality; Confusion Matrix reveals FP/FN trade-offs per class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3172" y="960120"/>
            <a:ext cx="4114800" cy="35204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(schematic)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0" cy="256032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977640"/>
            <a:ext cx="34747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77640"/>
            <a:ext cx="34747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148840" y="40325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2560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47472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2825496"/>
            <a:ext cx="347472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0744" y="2236622"/>
            <a:ext cx="521208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1952" y="1878178"/>
            <a:ext cx="694944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6896" y="1647749"/>
            <a:ext cx="694944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519733"/>
            <a:ext cx="86868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977640"/>
            <a:ext cx="277978" cy="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8" y="2697480"/>
            <a:ext cx="347472" cy="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11250" y="2134210"/>
            <a:ext cx="416966" cy="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28216" y="1775765"/>
            <a:ext cx="694944" cy="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1596542"/>
            <a:ext cx="764438" cy="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87598" y="1494130"/>
            <a:ext cx="972922" cy="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977640"/>
            <a:ext cx="243230" cy="0"/>
          </a:xfrm>
          <a:prstGeom prst="line">
            <a:avLst/>
          </a:prstGeom>
          <a:noFill/>
          <a:ln w="31750">
            <a:solidFill>
              <a:srgbClr val="F484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9030" y="2620670"/>
            <a:ext cx="277978" cy="0"/>
          </a:xfrm>
          <a:prstGeom prst="line">
            <a:avLst/>
          </a:prstGeom>
          <a:noFill/>
          <a:ln w="31750">
            <a:solidFill>
              <a:srgbClr val="F484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7008" y="2057400"/>
            <a:ext cx="416966" cy="0"/>
          </a:xfrm>
          <a:prstGeom prst="line">
            <a:avLst/>
          </a:prstGeom>
          <a:noFill/>
          <a:ln w="31750">
            <a:solidFill>
              <a:srgbClr val="F484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974" y="1724558"/>
            <a:ext cx="625450" cy="0"/>
          </a:xfrm>
          <a:prstGeom prst="line">
            <a:avLst/>
          </a:prstGeom>
          <a:noFill/>
          <a:ln w="31750">
            <a:solidFill>
              <a:srgbClr val="F484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9424" y="1545336"/>
            <a:ext cx="799186" cy="0"/>
          </a:xfrm>
          <a:prstGeom prst="line">
            <a:avLst/>
          </a:prstGeom>
          <a:noFill/>
          <a:ln w="31750">
            <a:solidFill>
              <a:srgbClr val="F484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48610" y="1468526"/>
            <a:ext cx="1111910" cy="0"/>
          </a:xfrm>
          <a:prstGeom prst="line">
            <a:avLst/>
          </a:prstGeom>
          <a:noFill/>
          <a:ln w="31750">
            <a:solidFill>
              <a:srgbClr val="F48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964" y="49414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Logistic Regression  AUC = 0.912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5076" y="4557369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SVM (RBF)             AUC = 0.931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4745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Neural Network        AUC = 0.942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58283" y="960120"/>
            <a:ext cx="1596543" cy="3482289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94275" y="937260"/>
            <a:ext cx="64008" cy="35204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069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13441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0   Pred 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82312" y="1545336"/>
            <a:ext cx="557784" cy="685800"/>
          </a:xfrm>
          <a:prstGeom prst="rect">
            <a:avLst/>
          </a:prstGeom>
          <a:solidFill>
            <a:srgbClr val="1A3A2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161848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82312" y="196596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76672" y="1545336"/>
            <a:ext cx="557784" cy="685800"/>
          </a:xfrm>
          <a:prstGeom prst="rect">
            <a:avLst/>
          </a:prstGeom>
          <a:solidFill>
            <a:srgbClr val="3A1A1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6672" y="161848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76672" y="196596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82312" y="2322576"/>
            <a:ext cx="557784" cy="685800"/>
          </a:xfrm>
          <a:prstGeom prst="rect">
            <a:avLst/>
          </a:prstGeom>
          <a:solidFill>
            <a:srgbClr val="3A1A1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23957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82312" y="274320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76672" y="2322576"/>
            <a:ext cx="557784" cy="685800"/>
          </a:xfrm>
          <a:prstGeom prst="rect">
            <a:avLst/>
          </a:prstGeom>
          <a:solidFill>
            <a:srgbClr val="1A3A2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76672" y="23957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76672" y="274320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81728" y="1673352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T:0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681728" y="2359152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T:1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204205" y="955040"/>
            <a:ext cx="1417320" cy="35204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960120"/>
            <a:ext cx="64008" cy="3520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1069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81928" y="13441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0   Pred 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91072" y="1545336"/>
            <a:ext cx="557784" cy="685800"/>
          </a:xfrm>
          <a:prstGeom prst="rect">
            <a:avLst/>
          </a:prstGeom>
          <a:solidFill>
            <a:srgbClr val="1A3A2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161848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91072" y="196596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85432" y="1545336"/>
            <a:ext cx="557784" cy="685800"/>
          </a:xfrm>
          <a:prstGeom prst="rect">
            <a:avLst/>
          </a:prstGeom>
          <a:solidFill>
            <a:srgbClr val="3A1A1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85432" y="161848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85432" y="196596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2322576"/>
            <a:ext cx="557784" cy="685800"/>
          </a:xfrm>
          <a:prstGeom prst="rect">
            <a:avLst/>
          </a:prstGeom>
          <a:solidFill>
            <a:srgbClr val="3A1A1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23957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91072" y="274320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85432" y="2322576"/>
            <a:ext cx="557784" cy="685800"/>
          </a:xfrm>
          <a:prstGeom prst="rect">
            <a:avLst/>
          </a:prstGeom>
          <a:solidFill>
            <a:srgbClr val="1A3A2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85432" y="23957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85432" y="274320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90488" y="1673352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T:0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190488" y="2359152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T:1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7680960" y="960120"/>
            <a:ext cx="1417320" cy="352044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680960" y="960120"/>
            <a:ext cx="64008" cy="35204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90688" y="1069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Net.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790688" y="13441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0   Pred 1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799832" y="1545336"/>
            <a:ext cx="557784" cy="685800"/>
          </a:xfrm>
          <a:prstGeom prst="rect">
            <a:avLst/>
          </a:prstGeom>
          <a:solidFill>
            <a:srgbClr val="1A3A2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99832" y="161848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1761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799832" y="196596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394192" y="1545336"/>
            <a:ext cx="557784" cy="685800"/>
          </a:xfrm>
          <a:prstGeom prst="rect">
            <a:avLst/>
          </a:prstGeom>
          <a:solidFill>
            <a:srgbClr val="3A1A1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94192" y="161848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394192" y="196596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799832" y="2322576"/>
            <a:ext cx="557784" cy="685800"/>
          </a:xfrm>
          <a:prstGeom prst="rect">
            <a:avLst/>
          </a:prstGeom>
          <a:solidFill>
            <a:srgbClr val="3A1A1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99832" y="23957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799832" y="274320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394192" y="2322576"/>
            <a:ext cx="557784" cy="685800"/>
          </a:xfrm>
          <a:prstGeom prst="rect">
            <a:avLst/>
          </a:prstGeom>
          <a:solidFill>
            <a:srgbClr val="1A3A2A"/>
          </a:solidFill>
          <a:ln w="6350">
            <a:solidFill>
              <a:srgbClr val="8FA3B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94192" y="23957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394192" y="274320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699248" y="1673352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T:0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7699248" y="2359152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T:1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Critical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82296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7487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trade-offs, interpretability vs. performance, and imbalance handling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1847088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84708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Trade-off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8130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shows high bias — learning curve plateaus early, model underfits non-linear patterns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 reduces bias with kernel trick; variance controlled via C and gamma tuning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most flexible; Dropout + early stopping prevent variance spike on tabular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847088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8470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1556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8130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only on training set — test set preserves real 15.5% purchase rate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and Recall are more meaningful metrics than accuracy for this imbalanced task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complements ROC-AUC — more sensitive to performance on minority class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81528"/>
            <a:ext cx="4069080" cy="1847088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81528"/>
            <a:ext cx="64008" cy="184708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91256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vs.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38130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fully interpretable coefficients — useful for business decisions on feature levers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no native feature importance — SHAP or permutation importance 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NN: highest metrics but black-box — trade-off between accuracy and explainability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81528"/>
            <a:ext cx="4069080" cy="1847088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81528"/>
            <a:ext cx="64008" cy="18470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91256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93008"/>
            <a:ext cx="38130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metrics used in slides — exact values depend on hyperparameter search results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SHAP values for NN/SVM interpretability, XGBoost comparison, temporal split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benefits most from larger dataset — consider ensemble approaches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2534"/>
          </a:solidFill>
          <a:ln w="12700">
            <a:solidFill>
              <a:srgbClr val="152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5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4173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0.651 · AUC: 0.942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for purchase prediction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74320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4300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7764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0.630 · AUC: 0.931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56432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speed-accuracy trade-off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143000"/>
            <a:ext cx="2743200" cy="1417320"/>
          </a:xfrm>
          <a:prstGeom prst="rect">
            <a:avLst/>
          </a:prstGeom>
          <a:solidFill>
            <a:srgbClr val="152534"/>
          </a:solidFill>
          <a:ln w="1016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43000"/>
            <a:ext cx="64008" cy="14173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0.610 · AUC: 0.912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82512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interpretability for business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999232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outperform the naive baseline of always predicting non-purchase — SMOTE proved critical for minority class recall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and Recall are the right metrics for this imbalanced problem — raw accuracy is misleading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gap between LR and NN confirms non-linear patterns in the data; the gains are meaningful, not noise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deployment: Neural Network for maximum performance; Logistic Regression if stakeholder explainability is required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train/test protocol across all models ensures fair, reproducible comparison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2  ·  Logistic Regression  |  SVM  |  Neural Network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6625</TotalTime>
  <Words>1320</Words>
  <Application>Microsoft Office PowerPoint</Application>
  <PresentationFormat>On-screen Show (16:9)</PresentationFormat>
  <Paragraphs>274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Classification — Phase 2</dc:title>
  <dc:subject>PptxGenJS Presentation</dc:subject>
  <dc:creator>PptxGenJS</dc:creator>
  <cp:lastModifiedBy>Ina Shametaj</cp:lastModifiedBy>
  <cp:revision>4</cp:revision>
  <dcterms:created xsi:type="dcterms:W3CDTF">2026-04-13T18:26:23Z</dcterms:created>
  <dcterms:modified xsi:type="dcterms:W3CDTF">2026-04-18T09:01:59Z</dcterms:modified>
</cp:coreProperties>
</file>